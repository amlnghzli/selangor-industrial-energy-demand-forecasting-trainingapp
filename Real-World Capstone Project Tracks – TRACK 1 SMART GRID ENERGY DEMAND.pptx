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7"/>
  </p:notesMasterIdLst>
  <p:handoutMasterIdLst>
    <p:handoutMasterId r:id="rId18"/>
  </p:handoutMasterIdLst>
  <p:sldIdLst>
    <p:sldId id="1497" r:id="rId5"/>
    <p:sldId id="1514" r:id="rId6"/>
    <p:sldId id="1499" r:id="rId7"/>
    <p:sldId id="1515" r:id="rId8"/>
    <p:sldId id="1500" r:id="rId9"/>
    <p:sldId id="1502" r:id="rId10"/>
    <p:sldId id="1517" r:id="rId11"/>
    <p:sldId id="1518" r:id="rId12"/>
    <p:sldId id="1520" r:id="rId13"/>
    <p:sldId id="1519" r:id="rId14"/>
    <p:sldId id="1522" r:id="rId15"/>
    <p:sldId id="15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B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079" autoAdjust="0"/>
  </p:normalViewPr>
  <p:slideViewPr>
    <p:cSldViewPr snapToGrid="0">
      <p:cViewPr varScale="1">
        <p:scale>
          <a:sx n="57" d="100"/>
          <a:sy n="57" d="100"/>
        </p:scale>
        <p:origin x="9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yenergystats.st.gov.my/dashboard" TargetMode="Externa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561811"/>
            <a:ext cx="8686800" cy="54790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MY" sz="3200" i="1" dirty="0"/>
              <a:t>Brand new day: Electricity consumption of Selangor’s industrial sector</a:t>
            </a:r>
            <a:endParaRPr lang="en-US" sz="32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7259067" cy="547908"/>
          </a:xfrm>
        </p:spPr>
        <p:txBody>
          <a:bodyPr>
            <a:normAutofit fontScale="92500"/>
          </a:bodyPr>
          <a:lstStyle/>
          <a:p>
            <a:r>
              <a:rPr lang="en-US" dirty="0"/>
              <a:t>Real-World Capstone Project Tracks – TRACK 1: SMART GRID ENERGY DEMAND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49B1B4A-E0FD-0C5E-02B7-7F5C105E4F92}"/>
              </a:ext>
            </a:extLst>
          </p:cNvPr>
          <p:cNvSpPr txBox="1">
            <a:spLocks/>
          </p:cNvSpPr>
          <p:nvPr/>
        </p:nvSpPr>
        <p:spPr>
          <a:xfrm>
            <a:off x="10012462" y="182593"/>
            <a:ext cx="1408577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ECLIPSE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8CAA85-00FE-CA73-D227-98F8BBABCB5E}"/>
              </a:ext>
            </a:extLst>
          </p:cNvPr>
          <p:cNvSpPr txBox="1">
            <a:spLocks/>
          </p:cNvSpPr>
          <p:nvPr/>
        </p:nvSpPr>
        <p:spPr>
          <a:xfrm>
            <a:off x="2910622" y="5123400"/>
            <a:ext cx="1408577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Amalina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BA38F2D-8F21-3E74-BF5A-9478B2B9C759}"/>
              </a:ext>
            </a:extLst>
          </p:cNvPr>
          <p:cNvSpPr txBox="1">
            <a:spLocks/>
          </p:cNvSpPr>
          <p:nvPr/>
        </p:nvSpPr>
        <p:spPr>
          <a:xfrm>
            <a:off x="5653822" y="5671308"/>
            <a:ext cx="1408577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Fakhriah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C0C9079-0E55-7922-D66E-6C1C5016A631}"/>
              </a:ext>
            </a:extLst>
          </p:cNvPr>
          <p:cNvSpPr txBox="1">
            <a:spLocks/>
          </p:cNvSpPr>
          <p:nvPr/>
        </p:nvSpPr>
        <p:spPr>
          <a:xfrm>
            <a:off x="8397022" y="4849446"/>
            <a:ext cx="1408577" cy="54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Athirah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does this problem matter?</a:t>
            </a:r>
          </a:p>
          <a:p>
            <a:r>
              <a:rPr lang="en-US" dirty="0"/>
              <a:t>Industrial electricity demand changes every hour: Factory operations, production schedules, and weekend activity.</a:t>
            </a:r>
          </a:p>
          <a:p>
            <a:r>
              <a:rPr lang="en-US" dirty="0"/>
              <a:t>Inaccurate forecasts lead to: Over-generation, wasted reserve capacity, higher operational costs, and reduced grid </a:t>
            </a:r>
            <a:r>
              <a:rPr lang="en-US" dirty="0" err="1"/>
              <a:t>effciency</a:t>
            </a:r>
            <a:r>
              <a:rPr lang="en-US" dirty="0"/>
              <a:t>.</a:t>
            </a:r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  <p:pic>
        <p:nvPicPr>
          <p:cNvPr id="4" name="Picture 3" descr="Kajang–Semenyih: Selangor’s New Tech-Industrial Corridor 202">
            <a:extLst>
              <a:ext uri="{FF2B5EF4-FFF2-40B4-BE49-F238E27FC236}">
                <a16:creationId xmlns:a16="http://schemas.microsoft.com/office/drawing/2014/main" id="{79809E59-501E-7E14-144D-A1145B6E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422" y="333756"/>
            <a:ext cx="6086539" cy="619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0278" y="594710"/>
            <a:ext cx="2291443" cy="1061584"/>
          </a:xfrm>
        </p:spPr>
        <p:txBody>
          <a:bodyPr anchor="b"/>
          <a:lstStyle/>
          <a:p>
            <a:r>
              <a:rPr lang="en-US" sz="4500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7E92-A91A-15A7-AE89-248343BBA859}"/>
              </a:ext>
            </a:extLst>
          </p:cNvPr>
          <p:cNvSpPr txBox="1">
            <a:spLocks/>
          </p:cNvSpPr>
          <p:nvPr/>
        </p:nvSpPr>
        <p:spPr>
          <a:xfrm>
            <a:off x="1765988" y="1781181"/>
            <a:ext cx="8660021" cy="8108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Develop a 24-hour ahead forecasting model to accurately predict Selangor’s hourly industrial electricity consumption for smart grid operational planning.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5EED50-BA5F-3DA9-B269-FB94023531A0}"/>
              </a:ext>
            </a:extLst>
          </p:cNvPr>
          <p:cNvSpPr txBox="1">
            <a:spLocks/>
          </p:cNvSpPr>
          <p:nvPr/>
        </p:nvSpPr>
        <p:spPr>
          <a:xfrm>
            <a:off x="2607999" y="3247388"/>
            <a:ext cx="6976002" cy="8108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500" b="0" kern="1200" cap="all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500" dirty="0"/>
              <a:t>THE IMPORTANCE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6E34CB-2C37-FCEE-563F-86A1F0E1F9E3}"/>
              </a:ext>
            </a:extLst>
          </p:cNvPr>
          <p:cNvSpPr txBox="1">
            <a:spLocks/>
          </p:cNvSpPr>
          <p:nvPr/>
        </p:nvSpPr>
        <p:spPr>
          <a:xfrm>
            <a:off x="2088971" y="4371243"/>
            <a:ext cx="4007031" cy="8108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Largest industrial state</a:t>
            </a:r>
          </a:p>
          <a:p>
            <a:r>
              <a:rPr lang="en-US" dirty="0">
                <a:solidFill>
                  <a:schemeClr val="bg1"/>
                </a:solidFill>
              </a:rPr>
              <a:t>Supports sustainability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363842-ABC2-FE93-59FD-1174B88247B7}"/>
              </a:ext>
            </a:extLst>
          </p:cNvPr>
          <p:cNvSpPr txBox="1">
            <a:spLocks/>
          </p:cNvSpPr>
          <p:nvPr/>
        </p:nvSpPr>
        <p:spPr>
          <a:xfrm>
            <a:off x="6095998" y="4308175"/>
            <a:ext cx="4007031" cy="8108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High electricity demand</a:t>
            </a:r>
          </a:p>
          <a:p>
            <a:r>
              <a:rPr lang="en-US" dirty="0">
                <a:solidFill>
                  <a:schemeClr val="bg1"/>
                </a:solidFill>
              </a:rPr>
              <a:t>Business value: Reduce peak demand cost 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759CD-934D-3B34-1EF5-AA77FE426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08" y="1715532"/>
            <a:ext cx="9187656" cy="4593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777" y="2604153"/>
            <a:ext cx="4361688" cy="1649694"/>
          </a:xfrm>
        </p:spPr>
        <p:txBody>
          <a:bodyPr>
            <a:noAutofit/>
          </a:bodyPr>
          <a:lstStyle/>
          <a:p>
            <a:r>
              <a:rPr lang="en-US" dirty="0"/>
              <a:t>Data preparation &amp; hygiene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FDD477F-8947-151C-519C-56A247373825}"/>
              </a:ext>
            </a:extLst>
          </p:cNvPr>
          <p:cNvSpPr txBox="1">
            <a:spLocks/>
          </p:cNvSpPr>
          <p:nvPr/>
        </p:nvSpPr>
        <p:spPr>
          <a:xfrm>
            <a:off x="888032" y="1647758"/>
            <a:ext cx="2519514" cy="3800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TRAINING DATASET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B2D15D-010A-162D-6ED5-1FD527299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096020"/>
              </p:ext>
            </p:extLst>
          </p:nvPr>
        </p:nvGraphicFramePr>
        <p:xfrm>
          <a:off x="521933" y="2123638"/>
          <a:ext cx="5078768" cy="26107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024">
                  <a:extLst>
                    <a:ext uri="{9D8B030D-6E8A-4147-A177-3AD203B41FA5}">
                      <a16:colId xmlns:a16="http://schemas.microsoft.com/office/drawing/2014/main" val="4240439167"/>
                    </a:ext>
                  </a:extLst>
                </a:gridCol>
                <a:gridCol w="2024744">
                  <a:extLst>
                    <a:ext uri="{9D8B030D-6E8A-4147-A177-3AD203B41FA5}">
                      <a16:colId xmlns:a16="http://schemas.microsoft.com/office/drawing/2014/main" val="3133960707"/>
                    </a:ext>
                  </a:extLst>
                </a:gridCol>
              </a:tblGrid>
              <a:tr h="416163">
                <a:tc>
                  <a:txBody>
                    <a:bodyPr/>
                    <a:lstStyle/>
                    <a:p>
                      <a:r>
                        <a:rPr lang="en-MY" dirty="0"/>
                        <a:t>PERIOD: </a:t>
                      </a:r>
                    </a:p>
                    <a:p>
                      <a:r>
                        <a:rPr lang="en-MY" b="1" dirty="0"/>
                        <a:t>January 2025 –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Hour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256210"/>
                  </a:ext>
                </a:extLst>
              </a:tr>
              <a:tr h="416163">
                <a:tc>
                  <a:txBody>
                    <a:bodyPr/>
                    <a:lstStyle/>
                    <a:p>
                      <a:r>
                        <a:rPr lang="en-MY" dirty="0"/>
                        <a:t>FREQUENCY: </a:t>
                      </a:r>
                      <a:r>
                        <a:rPr lang="en-MY" b="1" dirty="0"/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Day of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354506"/>
                  </a:ext>
                </a:extLst>
              </a:tr>
              <a:tr h="416163">
                <a:tc>
                  <a:txBody>
                    <a:bodyPr/>
                    <a:lstStyle/>
                    <a:p>
                      <a:r>
                        <a:rPr lang="en-MY" dirty="0"/>
                        <a:t>TOTAL RECORDS: </a:t>
                      </a:r>
                      <a:r>
                        <a:rPr lang="en-MY" b="1" dirty="0"/>
                        <a:t>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Weekend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655810"/>
                  </a:ext>
                </a:extLst>
              </a:tr>
              <a:tr h="416163">
                <a:tc>
                  <a:txBody>
                    <a:bodyPr/>
                    <a:lstStyle/>
                    <a:p>
                      <a:r>
                        <a:rPr lang="en-MY" dirty="0"/>
                        <a:t>SECTOR: </a:t>
                      </a:r>
                      <a:r>
                        <a:rPr lang="en-MY" b="1" dirty="0"/>
                        <a:t>Industrial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Y" dirty="0"/>
                        <a:t>Temperature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Y" dirty="0"/>
                        <a:t>Humidity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40343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28C56B6-893A-0C51-0448-FCADDF17D5EC}"/>
              </a:ext>
            </a:extLst>
          </p:cNvPr>
          <p:cNvSpPr txBox="1">
            <a:spLocks/>
          </p:cNvSpPr>
          <p:nvPr/>
        </p:nvSpPr>
        <p:spPr>
          <a:xfrm>
            <a:off x="3615361" y="1678829"/>
            <a:ext cx="2119613" cy="3178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FEATURES USED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A0E05-E925-9B04-0C36-58B4E9151C2F}"/>
              </a:ext>
            </a:extLst>
          </p:cNvPr>
          <p:cNvSpPr txBox="1"/>
          <p:nvPr/>
        </p:nvSpPr>
        <p:spPr>
          <a:xfrm>
            <a:off x="3302836" y="5179171"/>
            <a:ext cx="2188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b="1" i="1" dirty="0"/>
              <a:t>Source: </a:t>
            </a:r>
            <a:r>
              <a:rPr lang="en-MY" sz="1400" b="1" i="1" dirty="0" err="1">
                <a:hlinkClick r:id="rId2"/>
              </a:rPr>
              <a:t>MYEnergyStats</a:t>
            </a:r>
            <a:endParaRPr lang="en-MY" sz="1400" b="1" i="1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71" y="568170"/>
            <a:ext cx="9930586" cy="823245"/>
          </a:xfrm>
        </p:spPr>
        <p:txBody>
          <a:bodyPr/>
          <a:lstStyle/>
          <a:p>
            <a:r>
              <a:rPr lang="en-US" sz="4500" dirty="0"/>
              <a:t>LEAKAGE-FREE VALIDATION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C81A1-6549-1EDD-7282-CAB902F9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37"/>
          <a:stretch>
            <a:fillRect/>
          </a:stretch>
        </p:blipFill>
        <p:spPr>
          <a:xfrm>
            <a:off x="1852746" y="1702851"/>
            <a:ext cx="8782070" cy="193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0E535-F5AE-8CB6-FEB3-BB4B4D0C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81" y="4541273"/>
            <a:ext cx="4084837" cy="15168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2F0192-7D6C-46DD-8CF0-89248F025D4E}"/>
              </a:ext>
            </a:extLst>
          </p:cNvPr>
          <p:cNvSpPr txBox="1"/>
          <p:nvPr/>
        </p:nvSpPr>
        <p:spPr>
          <a:xfrm>
            <a:off x="4315177" y="3887755"/>
            <a:ext cx="35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TEST DATA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676568"/>
          </a:xfrm>
        </p:spPr>
        <p:txBody>
          <a:bodyPr/>
          <a:lstStyle/>
          <a:p>
            <a:r>
              <a:rPr lang="en-US" dirty="0"/>
              <a:t>Model tournament VS </a:t>
            </a:r>
            <a:br>
              <a:rPr lang="en-US" dirty="0"/>
            </a:br>
            <a:r>
              <a:rPr lang="en-US" dirty="0"/>
              <a:t>BASELINE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8657C0-C197-A2A7-D920-9F6518417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077416"/>
              </p:ext>
            </p:extLst>
          </p:nvPr>
        </p:nvGraphicFramePr>
        <p:xfrm>
          <a:off x="1833645" y="2260440"/>
          <a:ext cx="8518632" cy="3690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9316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4259316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1221606">
                <a:tc>
                  <a:txBody>
                    <a:bodyPr/>
                    <a:lstStyle/>
                    <a:p>
                      <a:r>
                        <a:rPr lang="en-US" sz="1400" b="1" cap="all" baseline="0" dirty="0">
                          <a:solidFill>
                            <a:schemeClr val="tx1"/>
                          </a:solidFill>
                        </a:rPr>
                        <a:t>SEASONAL NAIVE</a:t>
                      </a:r>
                      <a:endParaRPr lang="en-US" sz="1400" b="1" cap="all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b="1" cap="all" baseline="0" dirty="0">
                          <a:solidFill>
                            <a:srgbClr val="00B050"/>
                          </a:solidFill>
                        </a:rPr>
                        <a:t>GBDT</a:t>
                      </a:r>
                      <a:endParaRPr lang="en-US" sz="1400" b="1" cap="all" baseline="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1247045">
                <a:tc>
                  <a:txBody>
                    <a:bodyPr/>
                    <a:lstStyle/>
                    <a:p>
                      <a:r>
                        <a:rPr lang="en-US" sz="1400" dirty="0"/>
                        <a:t>Uses the previous day’s (or previous week’s) hourly demand as the prediction.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Learns nonlinear relationships between time, weather, and historical consumption.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1221606">
                <a:tc>
                  <a:txBody>
                    <a:bodyPr/>
                    <a:lstStyle/>
                    <a:p>
                      <a:r>
                        <a:rPr lang="en-US" sz="1400" dirty="0"/>
                        <a:t>Simple, transparent, and serves as the benchmark model.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Expected to achieve lower MAE and RMSE than the baseline.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B8CF-9E22-6779-27CB-25347B9558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6330" y="1319760"/>
            <a:ext cx="6867142" cy="669472"/>
          </a:xfrm>
        </p:spPr>
        <p:txBody>
          <a:bodyPr>
            <a:noAutofit/>
          </a:bodyPr>
          <a:lstStyle/>
          <a:p>
            <a:r>
              <a:rPr lang="en-US" dirty="0"/>
              <a:t>Operational decision framework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4904BD-4807-C5A3-E4EC-FB62D8B4A6CA}"/>
              </a:ext>
            </a:extLst>
          </p:cNvPr>
          <p:cNvSpPr txBox="1">
            <a:spLocks/>
          </p:cNvSpPr>
          <p:nvPr/>
        </p:nvSpPr>
        <p:spPr>
          <a:xfrm>
            <a:off x="1957170" y="1989232"/>
            <a:ext cx="8593017" cy="14068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-45720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500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lang="en-US" sz="2000" dirty="0" err="1"/>
              <a:t>gbdt</a:t>
            </a:r>
            <a:r>
              <a:rPr lang="en-US" sz="2000" dirty="0"/>
              <a:t> FORECAST</a:t>
            </a:r>
          </a:p>
          <a:p>
            <a:pPr>
              <a:buAutoNum type="arabicPeriod"/>
            </a:pPr>
            <a:r>
              <a:rPr lang="en-US" sz="2000" b="1" dirty="0"/>
              <a:t>THRESHOLD RULES</a:t>
            </a:r>
          </a:p>
          <a:p>
            <a:pPr>
              <a:buAutoNum type="arabicPeriod"/>
            </a:pPr>
            <a:r>
              <a:rPr lang="en-US" sz="2000" dirty="0"/>
              <a:t>SAFETY BUFFER</a:t>
            </a:r>
          </a:p>
          <a:p>
            <a:pPr>
              <a:buAutoNum type="arabicPeriod"/>
            </a:pPr>
            <a:r>
              <a:rPr lang="en-US" sz="2000" dirty="0"/>
              <a:t>GRID DISPATCH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7B7B821-43EA-B5BA-DF16-45033716E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779638"/>
              </p:ext>
            </p:extLst>
          </p:nvPr>
        </p:nvGraphicFramePr>
        <p:xfrm>
          <a:off x="2422188" y="3684040"/>
          <a:ext cx="8127999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306294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74489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83915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b="1" dirty="0"/>
                        <a:t>FORECAST (</a:t>
                      </a:r>
                      <a:r>
                        <a:rPr lang="en-MY" b="1" dirty="0" err="1"/>
                        <a:t>KMWh</a:t>
                      </a:r>
                      <a:r>
                        <a:rPr lang="en-MY" b="1" dirty="0"/>
                        <a:t>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/>
                        <a:t>RISK LEVEL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/>
                        <a:t>GRID ACTION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2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&lt;1,100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Normal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89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1,100 – 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FF00"/>
                          </a:solidFill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Monitor industrial 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4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1,300 –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Prepare reserve generators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17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≥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C00000"/>
                          </a:solidFill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Dispatch reserve &amp; demand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82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29B1-27D5-F9C7-80CF-D7FA08B0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F3DAA-1C25-7041-5880-24D0B7668C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6330" y="1319760"/>
            <a:ext cx="6867142" cy="669472"/>
          </a:xfrm>
        </p:spPr>
        <p:txBody>
          <a:bodyPr>
            <a:noAutofit/>
          </a:bodyPr>
          <a:lstStyle/>
          <a:p>
            <a:r>
              <a:rPr lang="en-US" dirty="0"/>
              <a:t>Operational decision framework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F0A7DF-9DE6-0CDA-0440-360E2FE43A25}"/>
              </a:ext>
            </a:extLst>
          </p:cNvPr>
          <p:cNvSpPr txBox="1"/>
          <p:nvPr/>
        </p:nvSpPr>
        <p:spPr>
          <a:xfrm>
            <a:off x="1716611" y="2199546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i="1" dirty="0"/>
              <a:t>FROM 1 JANUARY 2026: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54E78-3C0A-EFB4-6E7E-3A8273BBB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433142"/>
              </p:ext>
            </p:extLst>
          </p:nvPr>
        </p:nvGraphicFramePr>
        <p:xfrm>
          <a:off x="2032000" y="2687320"/>
          <a:ext cx="8496918" cy="2639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2306">
                  <a:extLst>
                    <a:ext uri="{9D8B030D-6E8A-4147-A177-3AD203B41FA5}">
                      <a16:colId xmlns:a16="http://schemas.microsoft.com/office/drawing/2014/main" val="2251859040"/>
                    </a:ext>
                  </a:extLst>
                </a:gridCol>
                <a:gridCol w="2832306">
                  <a:extLst>
                    <a:ext uri="{9D8B030D-6E8A-4147-A177-3AD203B41FA5}">
                      <a16:colId xmlns:a16="http://schemas.microsoft.com/office/drawing/2014/main" val="3529311215"/>
                    </a:ext>
                  </a:extLst>
                </a:gridCol>
                <a:gridCol w="2832306">
                  <a:extLst>
                    <a:ext uri="{9D8B030D-6E8A-4147-A177-3AD203B41FA5}">
                      <a16:colId xmlns:a16="http://schemas.microsoft.com/office/drawing/2014/main" val="3851522291"/>
                    </a:ext>
                  </a:extLst>
                </a:gridCol>
              </a:tblGrid>
              <a:tr h="460927">
                <a:tc>
                  <a:txBody>
                    <a:bodyPr/>
                    <a:lstStyle/>
                    <a:p>
                      <a:r>
                        <a:rPr lang="en-MY" b="1" dirty="0"/>
                        <a:t>HOUR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/>
                        <a:t>GBDT FORECAST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/>
                        <a:t>DECISION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33556"/>
                  </a:ext>
                </a:extLst>
              </a:tr>
              <a:tr h="460927">
                <a:tc>
                  <a:txBody>
                    <a:bodyPr/>
                    <a:lstStyle/>
                    <a:p>
                      <a:r>
                        <a:rPr lang="en-MY" dirty="0"/>
                        <a:t>01:00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1,004.55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Normal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848860"/>
                  </a:ext>
                </a:extLst>
              </a:tr>
              <a:tr h="460927">
                <a:tc>
                  <a:txBody>
                    <a:bodyPr/>
                    <a:lstStyle/>
                    <a:p>
                      <a:r>
                        <a:rPr lang="en-MY" dirty="0"/>
                        <a:t>06:00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1,193.05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Monitor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632470"/>
                  </a:ext>
                </a:extLst>
              </a:tr>
              <a:tr h="795573">
                <a:tc>
                  <a:txBody>
                    <a:bodyPr/>
                    <a:lstStyle/>
                    <a:p>
                      <a:r>
                        <a:rPr lang="en-MY" dirty="0"/>
                        <a:t>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1,560.7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Dispatch reserve &amp; demand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81135"/>
                  </a:ext>
                </a:extLst>
              </a:tr>
              <a:tr h="460927">
                <a:tc>
                  <a:txBody>
                    <a:bodyPr/>
                    <a:lstStyle/>
                    <a:p>
                      <a:r>
                        <a:rPr lang="en-MY" dirty="0"/>
                        <a:t>21:00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1,305.7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High 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35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78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FDEE-1373-C728-E196-F48AB035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DAF6-F21E-65E4-56D8-30B930D8B6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6330" y="1319760"/>
            <a:ext cx="6867142" cy="669472"/>
          </a:xfrm>
        </p:spPr>
        <p:txBody>
          <a:bodyPr>
            <a:noAutofit/>
          </a:bodyPr>
          <a:lstStyle/>
          <a:p>
            <a:r>
              <a:rPr lang="en-US" dirty="0"/>
              <a:t>Operational decision framework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19D7E8-12E5-B753-B09E-00ABA60D1E89}"/>
              </a:ext>
            </a:extLst>
          </p:cNvPr>
          <p:cNvSpPr txBox="1">
            <a:spLocks/>
          </p:cNvSpPr>
          <p:nvPr/>
        </p:nvSpPr>
        <p:spPr>
          <a:xfrm>
            <a:off x="1957170" y="1989232"/>
            <a:ext cx="8593017" cy="14068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-45720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500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lang="en-US" sz="2000" dirty="0"/>
              <a:t>GBDT FORECAST</a:t>
            </a:r>
          </a:p>
          <a:p>
            <a:pPr>
              <a:buAutoNum type="arabicPeriod"/>
            </a:pPr>
            <a:r>
              <a:rPr lang="en-US" sz="2000" dirty="0"/>
              <a:t>THRESHOLD RULES</a:t>
            </a:r>
          </a:p>
          <a:p>
            <a:pPr>
              <a:buAutoNum type="arabicPeriod"/>
            </a:pPr>
            <a:r>
              <a:rPr lang="en-US" sz="2000" b="1" dirty="0"/>
              <a:t>SAFETY BUFFER</a:t>
            </a:r>
          </a:p>
          <a:p>
            <a:pPr>
              <a:buAutoNum type="arabicPeriod"/>
            </a:pPr>
            <a:r>
              <a:rPr lang="en-US" sz="2000" dirty="0"/>
              <a:t>GRID DISPATCH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A7F73-8F30-872C-1665-117B67BAF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158" y="1989232"/>
            <a:ext cx="5174312" cy="4115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E02A30-A36B-EF92-37CB-C9380B1D0DDD}"/>
              </a:ext>
            </a:extLst>
          </p:cNvPr>
          <p:cNvSpPr txBox="1"/>
          <p:nvPr/>
        </p:nvSpPr>
        <p:spPr>
          <a:xfrm>
            <a:off x="1828800" y="4065523"/>
            <a:ext cx="36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10% Reserve Capacity 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12A01-3153-FE80-C0EF-5BA0F4DD1578}"/>
              </a:ext>
            </a:extLst>
          </p:cNvPr>
          <p:cNvSpPr txBox="1"/>
          <p:nvPr/>
        </p:nvSpPr>
        <p:spPr>
          <a:xfrm>
            <a:off x="1828799" y="4407104"/>
            <a:ext cx="36840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dirty="0"/>
              <a:t>To improve grid reliability, a </a:t>
            </a:r>
            <a:r>
              <a:rPr lang="en-MY" sz="1400" b="1" dirty="0"/>
              <a:t>10% safety buffer is added </a:t>
            </a:r>
            <a:r>
              <a:rPr lang="en-MY" sz="1400" dirty="0"/>
              <a:t>during peak industrial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/>
              <a:t>Forecast peak: </a:t>
            </a:r>
            <a:r>
              <a:rPr lang="en-MY" sz="1400" dirty="0"/>
              <a:t>1,695.66 </a:t>
            </a:r>
            <a:r>
              <a:rPr lang="en-MY" sz="1400" dirty="0" err="1"/>
              <a:t>KMWh</a:t>
            </a:r>
            <a:endParaRPr lang="en-MY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/>
              <a:t>10% Safety Buffer: </a:t>
            </a:r>
            <a:r>
              <a:rPr lang="en-MY" sz="1400" dirty="0"/>
              <a:t>59.61 MWh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/>
              <a:t>Required Capacity: </a:t>
            </a:r>
            <a:r>
              <a:rPr lang="en-MY" sz="1400" dirty="0"/>
              <a:t>1,755.27 MWh</a:t>
            </a:r>
          </a:p>
        </p:txBody>
      </p:sp>
    </p:spTree>
    <p:extLst>
      <p:ext uri="{BB962C8B-B14F-4D97-AF65-F5344CB8AC3E}">
        <p14:creationId xmlns:p14="http://schemas.microsoft.com/office/powerpoint/2010/main" val="3484183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AE13-5F18-2975-CC7D-BE39943D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39AD4-B0D4-0B31-74C5-7BDF622A5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48" r="49594" b="30963"/>
          <a:stretch>
            <a:fillRect/>
          </a:stretch>
        </p:blipFill>
        <p:spPr>
          <a:xfrm>
            <a:off x="3615396" y="1913054"/>
            <a:ext cx="4961207" cy="40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7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/>
          <a:lstStyle/>
          <a:p>
            <a:r>
              <a:rPr lang="en-US" dirty="0"/>
              <a:t>Panel discussion session</a:t>
            </a:r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" y="333756"/>
            <a:ext cx="6226810" cy="6190488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{332A35C2-9BE9-4FF2-8B6A-09322CDC4182}f4c2fa09-5552-4190-875c-1979579583e2-TFc553d604-a3b6-4c52-b2ed-3a769335c0fd_win32</Template>
  <TotalTime>273</TotalTime>
  <Words>338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Lora</vt:lpstr>
      <vt:lpstr>Playfair Display Black</vt:lpstr>
      <vt:lpstr>Poppins Light</vt:lpstr>
      <vt:lpstr>Gradient Circle</vt:lpstr>
      <vt:lpstr>Brand new day: Electricity consumption of Selangor’s industrial sector</vt:lpstr>
      <vt:lpstr>challenge</vt:lpstr>
      <vt:lpstr>AIMS</vt:lpstr>
      <vt:lpstr>PIPELINE</vt:lpstr>
      <vt:lpstr>Data preparation &amp; hygiene</vt:lpstr>
      <vt:lpstr>LEAKAGE-FREE VALIDATION</vt:lpstr>
      <vt:lpstr>Model tournament VS  BASELINE</vt:lpstr>
      <vt:lpstr>PowerPoint Presentation</vt:lpstr>
      <vt:lpstr>PowerPoint Presentation</vt:lpstr>
      <vt:lpstr>PowerPoint Presentation</vt:lpstr>
      <vt:lpstr>RECOMMENDATIONS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Nurfakhriah Firdaus Binti Azmi</dc:creator>
  <cp:lastModifiedBy>User</cp:lastModifiedBy>
  <cp:revision>4</cp:revision>
  <dcterms:created xsi:type="dcterms:W3CDTF">2026-09-11T04:02:59Z</dcterms:created>
  <dcterms:modified xsi:type="dcterms:W3CDTF">2026-09-11T08:37:11Z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